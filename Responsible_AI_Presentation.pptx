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84" r:id="rId2"/>
    <p:sldId id="385" r:id="rId3"/>
    <p:sldId id="371" r:id="rId4"/>
    <p:sldId id="398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14" r:id="rId18"/>
    <p:sldId id="370" r:id="rId19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3" autoAdjust="0"/>
    <p:restoredTop sz="94830" autoAdjust="0"/>
  </p:normalViewPr>
  <p:slideViewPr>
    <p:cSldViewPr snapToObjects="1">
      <p:cViewPr varScale="1">
        <p:scale>
          <a:sx n="112" d="100"/>
          <a:sy n="112" d="100"/>
        </p:scale>
        <p:origin x="108" y="4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00993-3FDD-4E80-810D-AC24CF6A32B3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4235-0F98-4786-8CE2-14E0F0433C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48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CA18-AB47-82EF-1DDD-D3A9AAFC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1D6856-69FF-17B6-1D26-F30193C1E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E55A63-25E7-E6C4-2D89-F60F9E01C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174324-56B3-2F72-9BC5-48A318A40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193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E5D2-9CCE-441F-6ED8-97682F859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6B7734-991C-91E6-D6FE-A7AFED6BF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CC699F-0D4A-B9AC-9896-466E2EF4F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14AFF2-210B-0CD8-5891-41CF0283A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021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65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6DBE-78E0-153F-8E52-B9CF752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CEAFDAB-20B0-8AE4-CE4C-C50E8BA26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09C238-1920-0A79-CC47-4FCD0871A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DFF2F3-7A8C-6384-11E5-4AFEF4461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77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26C96-8DCD-2F99-2BFE-7FD4C10A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8900E0-83E7-2865-A92B-684E7C9C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136376-E4F3-C523-1002-D6F1B5104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986DCF-F9F4-88C5-5612-B7CB345FD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140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D22B-8CDA-78E8-8839-F7773402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D6203B-74FD-4166-B143-7B4EC7EFE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B5FDFE-98C8-AAE4-86ED-7736329E8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A2C853-C951-6860-BF1C-C9002033A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518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37555-DA29-789C-87B0-C7E401DB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1084C0-58D4-792B-46A7-81171DD51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07137E-2351-C601-E9D4-AEF65E78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F0F756-E603-F0AD-94F7-6A76A45A8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3762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06F6-7337-0E08-FDEA-FEC611CD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55A21C7-7DE7-8C73-B0BB-A6C8B479B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86404F-33DD-44A4-2B3B-29E7D8281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CA931F-F7AF-EE5A-FC0E-E2FB963E5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1633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2590-EDD1-297C-7F91-ED1C0FED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AFDF40-C453-B040-1533-6D92B0EFE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441DB5-AF0A-2492-5580-ECCD01F5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B70481-AD77-D858-C09A-05D73224E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582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BEA3-CF95-3579-485B-93ABE4D9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986951-6488-B7EF-A7BA-55F4C3E4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46B0EEE-8D5A-D4C1-10A3-F987B05AE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B7E5F9-6A7D-A923-D702-75E4C026D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568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993E-8D77-5E16-F0AF-FB556A9B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9493B90-410F-B50B-1BFC-910474F37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20BB4F-ABCC-B845-A2BC-C7A614407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754848-7CF2-58FE-E1C4-764230821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268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91253-7324-A9D8-717F-D7F42DA5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6616BB-36DE-BFBD-85E0-F7E0472C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23AC14-1DFC-C2C8-D9BF-EF2C55EB6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EFF636-96AC-D6DF-13C6-095522541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911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2E26-4058-69FA-A54E-F67ADEA4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31BA13-8190-CCD1-D193-3CC68DF9A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C29CD9-A12E-EC04-D1F6-A162CB1A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771218-A56F-CC08-6BA1-88C845AD3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5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78DC-572F-B82F-4A1B-974D8BC7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AD1042-DFB8-7008-5737-B0F90BFFD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109B71-83CA-FB9B-8312-D87C79395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263239-2A44-72FB-EC86-D1E3D45C7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454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47F5-FABA-1D8D-5D93-11C8D06F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EC5101-F9DC-D746-9C9E-AFE3E1E99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B40D8F1-43E7-DE9D-21D6-4309CF42B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C1E5CE-608C-0F2F-FA87-EDCF408A6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2025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B597-70DC-E5F4-2E75-C355A2D1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2F0A3D-4717-892D-25DF-20F0D77B3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2A574F-0C50-322D-2D55-24DB0AF7B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1DC30F-8688-1619-C864-61F32D23C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13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E3FC-704C-FB58-1878-06199C6D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907237-D81B-8407-D1E9-98ACB97E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D6FD53-53E9-AEDB-175E-76BB88EF4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EECDEE-D108-9424-53C4-795FBE24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88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25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F4C68DA-A566-1026-B850-E8E43B1C7CE8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000"/>
            <a:ext cx="7560000" cy="3240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68000" y="4680000"/>
            <a:ext cx="7560000" cy="144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895200"/>
            <a:ext cx="6552272" cy="324000"/>
          </a:xfrm>
        </p:spPr>
        <p:txBody>
          <a:bodyPr/>
          <a:lstStyle>
            <a:lvl1pPr>
              <a:lnSpc>
                <a:spcPts val="2500"/>
              </a:lnSpc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7199" y="3895200"/>
            <a:ext cx="2505600" cy="324000"/>
          </a:xfrm>
        </p:spPr>
        <p:txBody>
          <a:bodyPr anchor="ctr" anchorCtr="0"/>
          <a:lstStyle>
            <a:lvl1pPr algn="ctr">
              <a:defRPr sz="1050"/>
            </a:lvl1pPr>
          </a:lstStyle>
          <a:p>
            <a:r>
              <a:rPr lang="de-DE" dirty="0"/>
              <a:t>Logo auf Platzhalter ziehen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638057-3C3C-C397-494C-B6D71484C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403" y="3372081"/>
            <a:ext cx="2280138" cy="1524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A11A22-2E41-AF13-75DF-64DB627B09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8428561" cy="3030633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600E272-C75A-43FB-581D-B2A6964FE026}"/>
              </a:ext>
            </a:extLst>
          </p:cNvPr>
          <p:cNvSpPr/>
          <p:nvPr userDrawn="1"/>
        </p:nvSpPr>
        <p:spPr>
          <a:xfrm>
            <a:off x="0" y="-1"/>
            <a:ext cx="8460432" cy="30758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EB4B7C-A37E-D9B2-79CA-EB88C08DEF6A}"/>
              </a:ext>
            </a:extLst>
          </p:cNvPr>
          <p:cNvSpPr txBox="1"/>
          <p:nvPr userDrawn="1"/>
        </p:nvSpPr>
        <p:spPr>
          <a:xfrm>
            <a:off x="3531330" y="1515315"/>
            <a:ext cx="1040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TITELBILD</a:t>
            </a:r>
          </a:p>
        </p:txBody>
      </p:sp>
      <p:pic>
        <p:nvPicPr>
          <p:cNvPr id="9" name="Bild 5">
            <a:extLst>
              <a:ext uri="{FF2B5EF4-FFF2-40B4-BE49-F238E27FC236}">
                <a16:creationId xmlns:a16="http://schemas.microsoft.com/office/drawing/2014/main" id="{AA066B78-9BB3-BCD0-A3B3-67533DF2A8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93636" y="-1"/>
            <a:ext cx="1090364" cy="109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8172000" cy="720000"/>
          </a:xfrm>
        </p:spPr>
        <p:txBody>
          <a:bodyPr/>
          <a:lstStyle>
            <a:lvl1pPr>
              <a:lnSpc>
                <a:spcPts val="57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476441"/>
            <a:ext cx="8172000" cy="1439863"/>
          </a:xfrm>
        </p:spPr>
        <p:txBody>
          <a:bodyPr/>
          <a:lstStyle>
            <a:lvl1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1pPr>
            <a:lvl2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2pPr>
            <a:lvl3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3pPr>
            <a:lvl4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4pPr>
            <a:lvl5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5pPr>
            <a:lvl6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6pPr>
            <a:lvl7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7pPr>
            <a:lvl8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8pPr>
            <a:lvl9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2910894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828000"/>
            <a:ext cx="8172000" cy="540000"/>
          </a:xfrm>
        </p:spPr>
        <p:txBody>
          <a:bodyPr/>
          <a:lstStyle>
            <a:lvl1pPr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367999"/>
            <a:ext cx="8172000" cy="2916000"/>
          </a:xfrm>
        </p:spPr>
        <p:txBody>
          <a:bodyPr/>
          <a:lstStyle>
            <a:lvl1pPr>
              <a:lnSpc>
                <a:spcPts val="4400"/>
              </a:lnSpc>
              <a:spcAft>
                <a:spcPts val="0"/>
              </a:spcAft>
              <a:defRPr sz="3600" b="0">
                <a:solidFill>
                  <a:schemeClr val="bg1"/>
                </a:solidFill>
              </a:defRPr>
            </a:lvl1pPr>
            <a:lvl2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2pPr>
            <a:lvl3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3pPr>
            <a:lvl4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4pPr>
            <a:lvl5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5pPr>
            <a:lvl6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6pPr>
            <a:lvl7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7pPr>
            <a:lvl8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8pPr>
            <a:lvl9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05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2000" y="468000"/>
            <a:ext cx="5040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1999" y="3952800"/>
            <a:ext cx="5040000" cy="32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25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 userDrawn="1">
          <p15:clr>
            <a:srgbClr val="FBAE40"/>
          </p15:clr>
        </p15:guide>
        <p15:guide id="2" pos="4468" userDrawn="1">
          <p15:clr>
            <a:srgbClr val="FBAE40"/>
          </p15:clr>
        </p15:guide>
        <p15:guide id="3" orient="horz" pos="291" userDrawn="1">
          <p15:clr>
            <a:srgbClr val="FBAE40"/>
          </p15:clr>
        </p15:guide>
        <p15:guide id="4" orient="horz" pos="241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324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000" y="954000"/>
            <a:ext cx="4536000" cy="302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20000" y="918000"/>
            <a:ext cx="342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1374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0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562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 userDrawn="1">
          <p15:clr>
            <a:srgbClr val="FBAE40"/>
          </p15:clr>
        </p15:guide>
        <p15:guide id="5" orient="horz" pos="2564" userDrawn="1">
          <p15:clr>
            <a:srgbClr val="FBAE40"/>
          </p15:clr>
        </p15:guide>
        <p15:guide id="6" orient="horz" pos="1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40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8701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840014"/>
            <a:ext cx="6300000" cy="108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MENSCHLICH – WELTOFFEN – LEISTUNGSSTARK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1779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EEBD-E611-4601-8478-2EAA0B8A8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5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468000" y="918000"/>
            <a:ext cx="7560000" cy="33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98AA80-601F-3413-3F50-122C39092FD0}"/>
              </a:ext>
            </a:extLst>
          </p:cNvPr>
          <p:cNvSpPr/>
          <p:nvPr userDrawn="1"/>
        </p:nvSpPr>
        <p:spPr>
          <a:xfrm>
            <a:off x="0" y="4663543"/>
            <a:ext cx="9144000" cy="479957"/>
          </a:xfrm>
          <a:prstGeom prst="rect">
            <a:avLst/>
          </a:prstGeom>
          <a:solidFill>
            <a:srgbClr val="0035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013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F3000F-F0D4-1793-33CE-24941C3028C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2482" y="4747500"/>
            <a:ext cx="1271159" cy="33950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840014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‹Nr.›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6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2" r:id="rId11"/>
    <p:sldLayoutId id="2147483664" r:id="rId12"/>
    <p:sldLayoutId id="2147483665" r:id="rId13"/>
    <p:sldLayoutId id="2147483666" r:id="rId14"/>
    <p:sldLayoutId id="2147483654" r:id="rId15"/>
    <p:sldLayoutId id="2147483655" r:id="rId16"/>
    <p:sldLayoutId id="2147483668" r:id="rId17"/>
  </p:sldLayoutIdLst>
  <p:hf hdr="0" ft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22D93-37C2-261B-DB66-F180334F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liennummer">
            <a:extLst>
              <a:ext uri="{FF2B5EF4-FFF2-40B4-BE49-F238E27FC236}">
                <a16:creationId xmlns:a16="http://schemas.microsoft.com/office/drawing/2014/main" id="{1D9017B5-B435-D333-F19A-7255C154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</a:t>
            </a:fld>
            <a:r>
              <a:rPr lang="en-GB" noProof="0" dirty="0"/>
              <a:t> </a:t>
            </a:r>
          </a:p>
        </p:txBody>
      </p:sp>
      <p:sp>
        <p:nvSpPr>
          <p:cNvPr id="6" name="Titel">
            <a:extLst>
              <a:ext uri="{FF2B5EF4-FFF2-40B4-BE49-F238E27FC236}">
                <a16:creationId xmlns:a16="http://schemas.microsoft.com/office/drawing/2014/main" id="{4FDB137A-DA9D-A04F-92AB-745BF55874BA}"/>
              </a:ext>
            </a:extLst>
          </p:cNvPr>
          <p:cNvSpPr txBox="1">
            <a:spLocks/>
          </p:cNvSpPr>
          <p:nvPr/>
        </p:nvSpPr>
        <p:spPr>
          <a:xfrm>
            <a:off x="827584" y="771549"/>
            <a:ext cx="7416824" cy="86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 err="1"/>
              <a:t>Trustworthiness</a:t>
            </a:r>
            <a:r>
              <a:rPr lang="de-DE" sz="4000" b="1" dirty="0"/>
              <a:t> </a:t>
            </a:r>
            <a:r>
              <a:rPr lang="de-DE" sz="4000" b="1" dirty="0" err="1"/>
              <a:t>of</a:t>
            </a:r>
            <a:r>
              <a:rPr lang="de-DE" sz="4000" b="1" dirty="0"/>
              <a:t> Models </a:t>
            </a:r>
            <a:r>
              <a:rPr lang="de-DE" sz="4000" b="1" dirty="0" err="1"/>
              <a:t>based</a:t>
            </a:r>
            <a:r>
              <a:rPr lang="de-DE" sz="4000" b="1" dirty="0"/>
              <a:t> on Language</a:t>
            </a:r>
          </a:p>
          <a:p>
            <a:pPr algn="ctr"/>
            <a:endParaRPr lang="en-GB" sz="3600" b="1" noProof="0" dirty="0"/>
          </a:p>
          <a:p>
            <a:pPr algn="ctr"/>
            <a:endParaRPr lang="en-GB" sz="3600" b="1" noProof="0" dirty="0">
              <a:latin typeface="+mj-lt"/>
            </a:endParaRPr>
          </a:p>
          <a:p>
            <a:pPr algn="ctr"/>
            <a:endParaRPr lang="en-GB" sz="3600" b="1" noProof="0" dirty="0">
              <a:latin typeface="+mj-lt"/>
            </a:endParaRPr>
          </a:p>
          <a:p>
            <a:endParaRPr lang="en-GB" sz="3600" b="1" noProof="0" dirty="0">
              <a:latin typeface="+mj-lt"/>
            </a:endParaRPr>
          </a:p>
          <a:p>
            <a:endParaRPr lang="en-GB" sz="4800" b="1" noProof="0" dirty="0">
              <a:latin typeface="+mj-lt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C25E339-40ED-65B4-C74E-00E4F1AC8100}"/>
              </a:ext>
            </a:extLst>
          </p:cNvPr>
          <p:cNvCxnSpPr>
            <a:cxnSpLocks/>
          </p:cNvCxnSpPr>
          <p:nvPr/>
        </p:nvCxnSpPr>
        <p:spPr>
          <a:xfrm>
            <a:off x="251520" y="2571750"/>
            <a:ext cx="8640960" cy="0"/>
          </a:xfrm>
          <a:prstGeom prst="line">
            <a:avLst/>
          </a:prstGeom>
          <a:ln w="95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text">
            <a:extLst>
              <a:ext uri="{FF2B5EF4-FFF2-40B4-BE49-F238E27FC236}">
                <a16:creationId xmlns:a16="http://schemas.microsoft.com/office/drawing/2014/main" id="{AC6D8F23-3BEF-C5B5-A444-25B25F50B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3507852"/>
            <a:ext cx="2591816" cy="576066"/>
          </a:xfrm>
        </p:spPr>
        <p:txBody>
          <a:bodyPr/>
          <a:lstStyle/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Responsible AI</a:t>
            </a:r>
            <a:b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</a:br>
            <a:b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</a:br>
            <a: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23</a:t>
            </a:r>
            <a:r>
              <a:rPr lang="en-GB" sz="2000" dirty="0"/>
              <a:t>.07.2026</a:t>
            </a:r>
            <a:endParaRPr lang="en-GB" sz="2000" noProof="0" dirty="0">
              <a:latin typeface="+mj-lt"/>
            </a:endParaRPr>
          </a:p>
        </p:txBody>
      </p:sp>
      <p:sp>
        <p:nvSpPr>
          <p:cNvPr id="11" name="Folientext">
            <a:extLst>
              <a:ext uri="{FF2B5EF4-FFF2-40B4-BE49-F238E27FC236}">
                <a16:creationId xmlns:a16="http://schemas.microsoft.com/office/drawing/2014/main" id="{212C980F-75FF-61F0-21C3-1C15EE69982B}"/>
              </a:ext>
            </a:extLst>
          </p:cNvPr>
          <p:cNvSpPr txBox="1">
            <a:spLocks/>
          </p:cNvSpPr>
          <p:nvPr/>
        </p:nvSpPr>
        <p:spPr>
          <a:xfrm>
            <a:off x="5364088" y="3579866"/>
            <a:ext cx="3600400" cy="108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r>
              <a:rPr lang="de-DE" sz="2000" dirty="0"/>
              <a:t>Hannah Buch, Yassine Ajoud</a:t>
            </a:r>
            <a:endParaRPr lang="en-GB" sz="160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568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8DD3-DC92-34E6-E6E7-9587E325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391061AF-DA9A-75B7-A988-A251234BA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noProof="0" dirty="0"/>
              <a:t>Table of contents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181F6A76-8B0E-30C8-D537-8AE3567B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059582"/>
            <a:ext cx="5688176" cy="3261872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dirty="0"/>
              <a:t>Introduction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Related Work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Approach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Experiments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Analysis</a:t>
            </a: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0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7507C556-3D51-94FD-C4FE-CA606659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2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57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52BE8065-DCB2-F562-BB93-F283AE16D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dirty="0"/>
              <a:t>Introduction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3D11CD25-63E6-DF10-C1A1-8C674013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3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17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1263-7870-8821-5F95-083161BA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4BF8C48-0CA6-0224-F2CA-437622784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Introduction</a:t>
            </a:r>
            <a:endParaRPr lang="en-GB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18990202-9600-AC9D-2953-72DC6FB5C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0A8F25DD-9D22-05BD-31B0-75CBA275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4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992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ECC84-185D-6CB1-E08E-223CF487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0156999C-B08F-6701-E17D-87C1E515C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2295E3AD-CC03-7EAE-60A8-F7B3EFD4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5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573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19EF5-9932-3833-AE3B-5699155E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ECE0054C-FEA1-2A2E-68BE-81EF3524C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Related Work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96177941-5A55-6F73-8091-3EABAC3E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E229056C-C222-CC93-62E3-6556C9A0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6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529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A6CA-67E1-40B0-E6C2-E64E9A50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5505F1D-6D93-D194-6336-BD0B93CD73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124CF873-578D-EAD3-F43E-6B969C5E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7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352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AF33-E329-F0AC-E12B-E8343935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7CC364DB-CFDA-3538-DE36-A6FBE19B3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Approach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373B75CC-77F2-6B4F-6225-2DD4F980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FC05A18E-4880-FB5A-7633-4A7B38CD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8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8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2761-AD3F-6EC1-7C22-239E83F9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E1716816-5A13-8870-3970-C4CE52F294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C5C94A7D-15D0-D436-7DE0-AC16BB47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9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8152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6906E-D117-275F-A7E3-9C1F1A4F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888C20BE-A1E2-F0B9-8344-481582CBDB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Experiments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B1428143-999C-24BF-D0A9-8258FD76F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C39CB6E6-926A-CDF5-41EE-3C45B272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10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569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DD5-5F92-405E-B7F5-0CEE6646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410E1849-482B-F6D3-C34A-92C0318DDE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1A6EBBAA-E508-3771-B317-F003A903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11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052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CF7F6-BD4F-EC88-69FC-34E1C052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77A3D9E5-4C1C-D17D-C9B1-A7062D534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Results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A3E6D40D-3087-C345-AC9A-654CC13D0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46ED3C8B-0037-F1C8-1AD6-444D3DE8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12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693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C84D-23E7-ECBA-062D-73791D4C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8DDBDAE8-65BC-0382-4633-FF429779C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AF9A267-A5BE-8616-EA0B-62A9D105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13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547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8F17-EFC1-5D1A-B5B8-53F19E74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3C1B6BA-D09E-7EFA-8BC1-ABCDD9479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Analysis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3D37CFFD-6C8A-3229-787E-39450BEF1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3C556FD7-9D24-DF14-F527-438DEF79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14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1264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9BC4-7FAC-EF55-8C66-A554E882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BA647520-7687-76A4-D274-4C9BEB5D6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65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GB" sz="4000" b="1" noProof="0" dirty="0"/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AB98DD18-01CD-7C90-725E-428CF5AC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6C8FC03C-C266-4645-ABC5-645062898383}" type="slidenum">
              <a:rPr lang="en-GB" noProof="0" smtClean="0"/>
              <a:pPr algn="ctr"/>
              <a:t>15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531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CFE0-E620-2A8B-7B9F-DBFC3B43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CB5ED058-DDCC-4A88-5279-C2E246BCCE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/>
              <a:t>Conclusion</a:t>
            </a:r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EC94BFED-B69E-BE4B-1B05-68DB280D0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GB" sz="1800" spc="-1" noProof="0" dirty="0">
                <a:solidFill>
                  <a:schemeClr val="dk2"/>
                </a:solidFill>
              </a:rPr>
              <a:t>text</a:t>
            </a: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BE3823BF-028C-7288-057E-C5EACAD0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16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70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7EAE-729B-1500-0CE2-9AE7238D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A113038B-F103-C478-4C09-CB8FE45E7C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sz="2800" b="1" noProof="0" dirty="0"/>
              <a:t>References</a:t>
            </a:r>
            <a:endParaRPr lang="en-GB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92E1EB60-8844-60F4-C1CC-E49CEA31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15566"/>
            <a:ext cx="8424480" cy="3405888"/>
          </a:xfrm>
        </p:spPr>
        <p:txBody>
          <a:bodyPr/>
          <a:lstStyle/>
          <a:p>
            <a:pPr lvl="2">
              <a:lnSpc>
                <a:spcPct val="100000"/>
              </a:lnSpc>
              <a:spcAft>
                <a:spcPts val="601"/>
              </a:spcAft>
              <a:buClr>
                <a:srgbClr val="003560"/>
              </a:buClr>
              <a:buSzPct val="130000"/>
              <a:buFont typeface="Wingdings" charset="2"/>
              <a:buChar char=""/>
            </a:pPr>
            <a:r>
              <a:rPr lang="en-US" sz="1800" i="1" spc="-1" dirty="0">
                <a:solidFill>
                  <a:schemeClr val="dk2"/>
                </a:solidFill>
              </a:rPr>
              <a:t>text</a:t>
            </a:r>
            <a:endParaRPr lang="en-GB" sz="1800" i="1" spc="-1" noProof="0" dirty="0">
              <a:solidFill>
                <a:schemeClr val="dk2"/>
              </a:solidFill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59BC8025-C4D6-F2D0-B739-D0DBDBBD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noProof="0" smtClean="0"/>
              <a:pPr/>
              <a:t>17</a:t>
            </a:fld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268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Logo der RUB">
            <a:extLst>
              <a:ext uri="{FF2B5EF4-FFF2-40B4-BE49-F238E27FC236}">
                <a16:creationId xmlns:a16="http://schemas.microsoft.com/office/drawing/2014/main" id="{80003CB7-2083-C803-7547-BDE78423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347" y="2090831"/>
            <a:ext cx="3601305" cy="961839"/>
          </a:xfrm>
          <a:prstGeom prst="rect">
            <a:avLst/>
          </a:prstGeom>
        </p:spPr>
      </p:pic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37C5D7C1-9B04-BE56-E202-2703CC17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7342892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RUB-Präsentation-16zu9</Template>
  <TotalTime>0</TotalTime>
  <Words>109</Words>
  <Application>Microsoft Office PowerPoint</Application>
  <PresentationFormat>Bildschirmpräsentation (16:9)</PresentationFormat>
  <Paragraphs>73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PowerPoint Master RUB</vt:lpstr>
      <vt:lpstr>PowerPoint-Präsentation</vt:lpstr>
      <vt:lpstr>Table of contents</vt:lpstr>
      <vt:lpstr>   Introduction</vt:lpstr>
      <vt:lpstr>Introduction</vt:lpstr>
      <vt:lpstr>   Related Work</vt:lpstr>
      <vt:lpstr>Related Work</vt:lpstr>
      <vt:lpstr>   Approach</vt:lpstr>
      <vt:lpstr>Approach</vt:lpstr>
      <vt:lpstr>   Experiments</vt:lpstr>
      <vt:lpstr>Experiments</vt:lpstr>
      <vt:lpstr>   Results</vt:lpstr>
      <vt:lpstr>Results</vt:lpstr>
      <vt:lpstr>   Analysis</vt:lpstr>
      <vt:lpstr>Analysis</vt:lpstr>
      <vt:lpstr>   Conclusion</vt:lpstr>
      <vt:lpstr>Conclusion</vt:lpstr>
      <vt:lpstr>References</vt:lpstr>
      <vt:lpstr>Endfolie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Yassine Ajoud</cp:lastModifiedBy>
  <cp:revision>328</cp:revision>
  <dcterms:created xsi:type="dcterms:W3CDTF">2018-07-02T13:45:44Z</dcterms:created>
  <dcterms:modified xsi:type="dcterms:W3CDTF">2026-07-17T23:44:31Z</dcterms:modified>
</cp:coreProperties>
</file>